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77EC15C4-84A9-4FB2-8834-CA61227F02F7}" type="datetimeFigureOut">
              <a:rPr lang="en-IN" smtClean="0"/>
              <a:t>24-04-2026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C6CDCFD8-63CB-46A2-8CA5-2FE725FCD720}"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3992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EC15C4-84A9-4FB2-8834-CA61227F02F7}"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CDCFD8-63CB-46A2-8CA5-2FE725FCD720}" type="slidenum">
              <a:rPr lang="en-IN" smtClean="0"/>
              <a:t>‹#›</a:t>
            </a:fld>
            <a:endParaRPr lang="en-IN"/>
          </a:p>
        </p:txBody>
      </p:sp>
    </p:spTree>
    <p:extLst>
      <p:ext uri="{BB962C8B-B14F-4D97-AF65-F5344CB8AC3E}">
        <p14:creationId xmlns:p14="http://schemas.microsoft.com/office/powerpoint/2010/main" val="3323176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C15C4-84A9-4FB2-8834-CA61227F02F7}"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CDCFD8-63CB-46A2-8CA5-2FE725FCD720}"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248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EC15C4-84A9-4FB2-8834-CA61227F02F7}"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CDCFD8-63CB-46A2-8CA5-2FE725FCD720}" type="slidenum">
              <a:rPr lang="en-IN" smtClean="0"/>
              <a:t>‹#›</a:t>
            </a:fld>
            <a:endParaRPr lang="en-IN"/>
          </a:p>
        </p:txBody>
      </p:sp>
    </p:spTree>
    <p:extLst>
      <p:ext uri="{BB962C8B-B14F-4D97-AF65-F5344CB8AC3E}">
        <p14:creationId xmlns:p14="http://schemas.microsoft.com/office/powerpoint/2010/main" val="451508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EC15C4-84A9-4FB2-8834-CA61227F02F7}" type="datetimeFigureOut">
              <a:rPr lang="en-IN" smtClean="0"/>
              <a:t>24-04-2026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CDCFD8-63CB-46A2-8CA5-2FE725FCD720}"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2880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EC15C4-84A9-4FB2-8834-CA61227F02F7}" type="datetimeFigureOut">
              <a:rPr lang="en-IN" smtClean="0"/>
              <a:t>24-04-2026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CDCFD8-63CB-46A2-8CA5-2FE725FCD720}"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5500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C15C4-84A9-4FB2-8834-CA61227F02F7}" type="datetimeFigureOut">
              <a:rPr lang="en-IN" smtClean="0"/>
              <a:t>24-04-2026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6CDCFD8-63CB-46A2-8CA5-2FE725FCD720}" type="slidenum">
              <a:rPr lang="en-IN" smtClean="0"/>
              <a:t>‹#›</a:t>
            </a:fld>
            <a:endParaRPr lang="en-IN"/>
          </a:p>
        </p:txBody>
      </p:sp>
    </p:spTree>
    <p:extLst>
      <p:ext uri="{BB962C8B-B14F-4D97-AF65-F5344CB8AC3E}">
        <p14:creationId xmlns:p14="http://schemas.microsoft.com/office/powerpoint/2010/main" val="2624291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EC15C4-84A9-4FB2-8834-CA61227F02F7}"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CDCFD8-63CB-46A2-8CA5-2FE725FCD720}"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225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EC15C4-84A9-4FB2-8834-CA61227F02F7}"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CDCFD8-63CB-46A2-8CA5-2FE725FCD720}" type="slidenum">
              <a:rPr lang="en-IN" smtClean="0"/>
              <a:t>‹#›</a:t>
            </a:fld>
            <a:endParaRPr lang="en-IN"/>
          </a:p>
        </p:txBody>
      </p:sp>
    </p:spTree>
    <p:extLst>
      <p:ext uri="{BB962C8B-B14F-4D97-AF65-F5344CB8AC3E}">
        <p14:creationId xmlns:p14="http://schemas.microsoft.com/office/powerpoint/2010/main" val="3607789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EC15C4-84A9-4FB2-8834-CA61227F02F7}"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CDCFD8-63CB-46A2-8CA5-2FE725FCD720}" type="slidenum">
              <a:rPr lang="en-IN" smtClean="0"/>
              <a:t>‹#›</a:t>
            </a:fld>
            <a:endParaRPr lang="en-IN"/>
          </a:p>
        </p:txBody>
      </p:sp>
    </p:spTree>
    <p:extLst>
      <p:ext uri="{BB962C8B-B14F-4D97-AF65-F5344CB8AC3E}">
        <p14:creationId xmlns:p14="http://schemas.microsoft.com/office/powerpoint/2010/main" val="1246592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C15C4-84A9-4FB2-8834-CA61227F02F7}"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CDCFD8-63CB-46A2-8CA5-2FE725FCD720}"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3908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C15C4-84A9-4FB2-8834-CA61227F02F7}"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CDCFD8-63CB-46A2-8CA5-2FE725FCD720}"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18799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C15C4-84A9-4FB2-8834-CA61227F02F7}"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CDCFD8-63CB-46A2-8CA5-2FE725FCD720}" type="slidenum">
              <a:rPr lang="en-IN" smtClean="0"/>
              <a:t>‹#›</a:t>
            </a:fld>
            <a:endParaRPr lang="en-IN"/>
          </a:p>
        </p:txBody>
      </p:sp>
    </p:spTree>
    <p:extLst>
      <p:ext uri="{BB962C8B-B14F-4D97-AF65-F5344CB8AC3E}">
        <p14:creationId xmlns:p14="http://schemas.microsoft.com/office/powerpoint/2010/main" val="5955336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C15C4-84A9-4FB2-8834-CA61227F02F7}"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CDCFD8-63CB-46A2-8CA5-2FE725FCD720}"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043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C15C4-84A9-4FB2-8834-CA61227F02F7}"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CDCFD8-63CB-46A2-8CA5-2FE725FCD720}"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76265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EC15C4-84A9-4FB2-8834-CA61227F02F7}"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CDCFD8-63CB-46A2-8CA5-2FE725FCD720}"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33195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EC15C4-84A9-4FB2-8834-CA61227F02F7}"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CDCFD8-63CB-46A2-8CA5-2FE725FCD720}"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7886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7EC15C4-84A9-4FB2-8834-CA61227F02F7}" type="datetimeFigureOut">
              <a:rPr lang="en-IN" smtClean="0"/>
              <a:t>24-04-2026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6CDCFD8-63CB-46A2-8CA5-2FE725FCD720}" type="slidenum">
              <a:rPr lang="en-IN" smtClean="0"/>
              <a:t>‹#›</a:t>
            </a:fld>
            <a:endParaRPr lang="en-IN"/>
          </a:p>
        </p:txBody>
      </p:sp>
    </p:spTree>
    <p:extLst>
      <p:ext uri="{BB962C8B-B14F-4D97-AF65-F5344CB8AC3E}">
        <p14:creationId xmlns:p14="http://schemas.microsoft.com/office/powerpoint/2010/main" val="403123826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976BE-6B68-DF25-D5C7-7107A5A2EE2D}"/>
              </a:ext>
            </a:extLst>
          </p:cNvPr>
          <p:cNvSpPr>
            <a:spLocks noGrp="1"/>
          </p:cNvSpPr>
          <p:nvPr>
            <p:ph type="ctrTitle"/>
          </p:nvPr>
        </p:nvSpPr>
        <p:spPr>
          <a:xfrm>
            <a:off x="2615381" y="1684871"/>
            <a:ext cx="6410905" cy="910846"/>
          </a:xfrm>
        </p:spPr>
        <p:txBody>
          <a:bodyPr/>
          <a:lstStyle/>
          <a:p>
            <a:r>
              <a:rPr lang="en-IN" sz="1800" b="1" dirty="0"/>
              <a:t>Project Title:</a:t>
            </a:r>
            <a:r>
              <a:rPr lang="en-IN" sz="1800" dirty="0"/>
              <a:t> </a:t>
            </a:r>
            <a:r>
              <a:rPr lang="en-IN" sz="1800" dirty="0" err="1"/>
              <a:t>Eduverse</a:t>
            </a:r>
            <a:r>
              <a:rPr lang="en-IN" sz="1800" dirty="0"/>
              <a:t> Coaching Institute ERP System</a:t>
            </a:r>
            <a:br>
              <a:rPr lang="en-IN" sz="1600" dirty="0"/>
            </a:br>
            <a:endParaRPr lang="en-IN" sz="1600" dirty="0"/>
          </a:p>
        </p:txBody>
      </p:sp>
      <p:sp>
        <p:nvSpPr>
          <p:cNvPr id="3" name="Subtitle 2">
            <a:extLst>
              <a:ext uri="{FF2B5EF4-FFF2-40B4-BE49-F238E27FC236}">
                <a16:creationId xmlns:a16="http://schemas.microsoft.com/office/drawing/2014/main" id="{6FF8212A-1872-A53F-787E-FC61A8FC4059}"/>
              </a:ext>
            </a:extLst>
          </p:cNvPr>
          <p:cNvSpPr>
            <a:spLocks noGrp="1"/>
          </p:cNvSpPr>
          <p:nvPr>
            <p:ph type="subTitle" idx="1"/>
          </p:nvPr>
        </p:nvSpPr>
        <p:spPr>
          <a:xfrm>
            <a:off x="2692398" y="2349910"/>
            <a:ext cx="6815669" cy="2628489"/>
          </a:xfrm>
        </p:spPr>
        <p:txBody>
          <a:bodyPr>
            <a:normAutofit fontScale="92500" lnSpcReduction="20000"/>
          </a:bodyPr>
          <a:lstStyle/>
          <a:p>
            <a:r>
              <a:rPr lang="en-IN" sz="2400" b="1" dirty="0"/>
              <a:t>GROUP ID:</a:t>
            </a:r>
            <a:r>
              <a:rPr lang="en-IN" sz="2400" dirty="0"/>
              <a:t> 81</a:t>
            </a:r>
            <a:br>
              <a:rPr lang="en-IN" sz="2400" dirty="0"/>
            </a:br>
            <a:r>
              <a:rPr lang="en-IN" sz="2400" b="1" dirty="0"/>
              <a:t>Students Name:</a:t>
            </a:r>
            <a:r>
              <a:rPr lang="en-IN" sz="2400" dirty="0"/>
              <a:t> Aayuni Barot , </a:t>
            </a:r>
            <a:r>
              <a:rPr lang="en-IN" sz="2400" dirty="0" err="1"/>
              <a:t>Nensy</a:t>
            </a:r>
            <a:r>
              <a:rPr lang="en-IN" sz="2400" dirty="0"/>
              <a:t> </a:t>
            </a:r>
            <a:r>
              <a:rPr lang="en-IN" sz="2400" dirty="0" err="1"/>
              <a:t>kathiriya</a:t>
            </a:r>
            <a:r>
              <a:rPr lang="en-IN" sz="2400" dirty="0"/>
              <a:t> , Krupa </a:t>
            </a:r>
            <a:r>
              <a:rPr lang="en-IN" sz="2400" dirty="0" err="1"/>
              <a:t>Padhiyar</a:t>
            </a:r>
            <a:br>
              <a:rPr lang="en-IN" sz="2400" dirty="0"/>
            </a:br>
            <a:r>
              <a:rPr lang="en-IN" sz="2400" b="1" dirty="0"/>
              <a:t>Roll No.:</a:t>
            </a:r>
            <a:r>
              <a:rPr lang="en-IN" sz="2400" dirty="0"/>
              <a:t> 3098 , 3125 , 3128</a:t>
            </a:r>
            <a:br>
              <a:rPr lang="en-IN" sz="2400" dirty="0"/>
            </a:br>
            <a:r>
              <a:rPr lang="en-IN" sz="2400" b="1" dirty="0"/>
              <a:t>Program &amp; Semester:</a:t>
            </a:r>
            <a:r>
              <a:rPr lang="en-IN" sz="2400" dirty="0"/>
              <a:t> MSc IT </a:t>
            </a:r>
            <a:br>
              <a:rPr lang="en-IN" sz="2400" dirty="0"/>
            </a:br>
            <a:r>
              <a:rPr lang="en-IN" sz="2400" b="1" dirty="0"/>
              <a:t>Institution:</a:t>
            </a:r>
            <a:r>
              <a:rPr lang="en-IN" sz="2400" dirty="0"/>
              <a:t> K. S. School of Business Management &amp; IT, Gujarat University</a:t>
            </a:r>
            <a:br>
              <a:rPr lang="en-IN" sz="2400" dirty="0"/>
            </a:br>
            <a:r>
              <a:rPr lang="en-IN" sz="2400" b="1" dirty="0"/>
              <a:t>Internship Organization:</a:t>
            </a:r>
            <a:r>
              <a:rPr lang="en-IN" sz="2400" dirty="0"/>
              <a:t> </a:t>
            </a:r>
            <a:r>
              <a:rPr lang="en-IN" sz="2400" dirty="0" err="1"/>
              <a:t>eduverse</a:t>
            </a:r>
            <a:r>
              <a:rPr lang="en-IN" sz="2400" dirty="0"/>
              <a:t> </a:t>
            </a:r>
            <a:r>
              <a:rPr lang="en-IN" sz="2400" dirty="0" err="1"/>
              <a:t>coaaching</a:t>
            </a:r>
            <a:br>
              <a:rPr lang="en-IN" sz="2400" dirty="0"/>
            </a:br>
            <a:r>
              <a:rPr lang="en-IN" sz="2400" b="1" dirty="0"/>
              <a:t>Guide / Mentor Name:</a:t>
            </a:r>
            <a:r>
              <a:rPr lang="en-IN" sz="2400" dirty="0"/>
              <a:t> Bhagirath Sir</a:t>
            </a:r>
            <a:endParaRPr lang="en-IN" dirty="0"/>
          </a:p>
        </p:txBody>
      </p:sp>
    </p:spTree>
    <p:extLst>
      <p:ext uri="{BB962C8B-B14F-4D97-AF65-F5344CB8AC3E}">
        <p14:creationId xmlns:p14="http://schemas.microsoft.com/office/powerpoint/2010/main" val="52541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6B58A-C34F-58D1-3F2B-DA4F78779BF9}"/>
              </a:ext>
            </a:extLst>
          </p:cNvPr>
          <p:cNvSpPr>
            <a:spLocks noGrp="1"/>
          </p:cNvSpPr>
          <p:nvPr>
            <p:ph type="title"/>
          </p:nvPr>
        </p:nvSpPr>
        <p:spPr>
          <a:xfrm>
            <a:off x="1295402" y="982132"/>
            <a:ext cx="9601196" cy="797507"/>
          </a:xfrm>
        </p:spPr>
        <p:txBody>
          <a:bodyPr>
            <a:normAutofit fontScale="90000"/>
          </a:bodyPr>
          <a:lstStyle/>
          <a:p>
            <a:r>
              <a:rPr lang="en-IN" dirty="0"/>
              <a:t>Introduction</a:t>
            </a:r>
            <a:br>
              <a:rPr lang="en-IN" dirty="0"/>
            </a:br>
            <a:endParaRPr lang="en-IN" dirty="0"/>
          </a:p>
        </p:txBody>
      </p:sp>
      <p:sp>
        <p:nvSpPr>
          <p:cNvPr id="3" name="Content Placeholder 2">
            <a:extLst>
              <a:ext uri="{FF2B5EF4-FFF2-40B4-BE49-F238E27FC236}">
                <a16:creationId xmlns:a16="http://schemas.microsoft.com/office/drawing/2014/main" id="{150D47F0-0FE1-3325-BBBB-0308546B7E82}"/>
              </a:ext>
            </a:extLst>
          </p:cNvPr>
          <p:cNvSpPr>
            <a:spLocks noGrp="1"/>
          </p:cNvSpPr>
          <p:nvPr>
            <p:ph idx="1"/>
          </p:nvPr>
        </p:nvSpPr>
        <p:spPr>
          <a:xfrm>
            <a:off x="1295401" y="1514168"/>
            <a:ext cx="9601196" cy="4361700"/>
          </a:xfrm>
        </p:spPr>
        <p:txBody>
          <a:bodyPr>
            <a:normAutofit fontScale="25000" lnSpcReduction="20000"/>
          </a:bodyPr>
          <a:lstStyle/>
          <a:p>
            <a:endParaRPr lang="en-IN" sz="8000" dirty="0"/>
          </a:p>
          <a:p>
            <a:r>
              <a:rPr lang="en-IN" sz="8000" b="1" dirty="0"/>
              <a:t>Internship Overview:</a:t>
            </a:r>
            <a:br>
              <a:rPr lang="en-IN" sz="8000" dirty="0"/>
            </a:br>
            <a:r>
              <a:rPr lang="en-IN" sz="8000" dirty="0"/>
              <a:t>The project involved the development of a professional-grade </a:t>
            </a:r>
            <a:r>
              <a:rPr lang="en-IN" sz="8000" b="1" dirty="0"/>
              <a:t>Enterprise Resource Planning (ERP)</a:t>
            </a:r>
            <a:r>
              <a:rPr lang="en-IN" sz="8000" dirty="0"/>
              <a:t> application designed to streamline the operations of a coaching institute. The system focuses on digitizing the management of students, teachers, academic performance, and financial records into a single, unified platform.</a:t>
            </a:r>
          </a:p>
          <a:p>
            <a:r>
              <a:rPr lang="en-IN" sz="8000" b="1" dirty="0"/>
              <a:t>Domain:</a:t>
            </a:r>
            <a:br>
              <a:rPr lang="en-IN" sz="8000" dirty="0"/>
            </a:br>
            <a:r>
              <a:rPr lang="en-IN" sz="8000" dirty="0"/>
              <a:t>Software Development (Full Stack Web Development - MERN Stack)</a:t>
            </a:r>
          </a:p>
          <a:p>
            <a:r>
              <a:rPr lang="en-IN" sz="8000" b="1" dirty="0"/>
              <a:t>Duration:</a:t>
            </a:r>
            <a:br>
              <a:rPr lang="en-IN" sz="8000" dirty="0"/>
            </a:br>
            <a:r>
              <a:rPr lang="en-IN" sz="8000" dirty="0"/>
              <a:t>120 Hours</a:t>
            </a:r>
          </a:p>
          <a:p>
            <a:r>
              <a:rPr lang="en-IN" sz="8000" b="1" dirty="0"/>
              <a:t>Core Objectives:</a:t>
            </a:r>
            <a:endParaRPr lang="en-IN" sz="8000" dirty="0"/>
          </a:p>
          <a:p>
            <a:r>
              <a:rPr lang="en-IN" sz="8000" dirty="0"/>
              <a:t>Implement secure, role-based access for different user types.</a:t>
            </a:r>
          </a:p>
          <a:p>
            <a:r>
              <a:rPr lang="en-IN" sz="8000" dirty="0"/>
              <a:t>Automate repetitive administrative tasks like fee tracking and attendance.</a:t>
            </a:r>
          </a:p>
          <a:p>
            <a:r>
              <a:rPr lang="en-IN" sz="8000" dirty="0"/>
              <a:t>Provide real-time data visualization for student performance.</a:t>
            </a:r>
          </a:p>
          <a:p>
            <a:pPr marL="0" indent="0">
              <a:buNone/>
            </a:pPr>
            <a:endParaRPr lang="en-IN" dirty="0"/>
          </a:p>
          <a:p>
            <a:pPr marL="0" indent="0">
              <a:buNone/>
            </a:pPr>
            <a:br>
              <a:rPr lang="en-IN" dirty="0"/>
            </a:br>
            <a:endParaRPr lang="en-IN" dirty="0"/>
          </a:p>
        </p:txBody>
      </p:sp>
    </p:spTree>
    <p:extLst>
      <p:ext uri="{BB962C8B-B14F-4D97-AF65-F5344CB8AC3E}">
        <p14:creationId xmlns:p14="http://schemas.microsoft.com/office/powerpoint/2010/main" val="44847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6A137-85EE-9EA0-B892-E0C204E758D6}"/>
              </a:ext>
            </a:extLst>
          </p:cNvPr>
          <p:cNvSpPr>
            <a:spLocks noGrp="1"/>
          </p:cNvSpPr>
          <p:nvPr>
            <p:ph type="title"/>
          </p:nvPr>
        </p:nvSpPr>
        <p:spPr/>
        <p:txBody>
          <a:bodyPr>
            <a:normAutofit fontScale="90000"/>
          </a:bodyPr>
          <a:lstStyle/>
          <a:p>
            <a:r>
              <a:rPr lang="en-IN" dirty="0"/>
              <a:t>Project Overview</a:t>
            </a:r>
            <a:br>
              <a:rPr lang="en-IN" dirty="0"/>
            </a:br>
            <a:endParaRPr lang="en-IN" dirty="0"/>
          </a:p>
        </p:txBody>
      </p:sp>
      <p:sp>
        <p:nvSpPr>
          <p:cNvPr id="3" name="Content Placeholder 2">
            <a:extLst>
              <a:ext uri="{FF2B5EF4-FFF2-40B4-BE49-F238E27FC236}">
                <a16:creationId xmlns:a16="http://schemas.microsoft.com/office/drawing/2014/main" id="{49A42B92-1EF5-CD2D-E4A0-C94C36F84E77}"/>
              </a:ext>
            </a:extLst>
          </p:cNvPr>
          <p:cNvSpPr>
            <a:spLocks noGrp="1"/>
          </p:cNvSpPr>
          <p:nvPr>
            <p:ph idx="1"/>
          </p:nvPr>
        </p:nvSpPr>
        <p:spPr/>
        <p:txBody>
          <a:bodyPr>
            <a:normAutofit fontScale="47500" lnSpcReduction="20000"/>
          </a:bodyPr>
          <a:lstStyle/>
          <a:p>
            <a:pPr marL="0" indent="0">
              <a:buNone/>
            </a:pPr>
            <a:endParaRPr lang="en-IN" dirty="0"/>
          </a:p>
          <a:p>
            <a:r>
              <a:rPr lang="en-IN" sz="2900" b="1" dirty="0"/>
              <a:t>Project Name:</a:t>
            </a:r>
            <a:br>
              <a:rPr lang="en-IN" sz="2900" dirty="0"/>
            </a:br>
            <a:r>
              <a:rPr lang="en-IN" sz="2900" dirty="0" err="1"/>
              <a:t>Eduverse</a:t>
            </a:r>
            <a:r>
              <a:rPr lang="en-IN" sz="2900" dirty="0"/>
              <a:t> Coaching ERP App</a:t>
            </a:r>
          </a:p>
          <a:p>
            <a:r>
              <a:rPr lang="en-IN" sz="2900" b="1" dirty="0"/>
              <a:t>Purpose of the Software:</a:t>
            </a:r>
            <a:br>
              <a:rPr lang="en-IN" sz="2900" dirty="0"/>
            </a:br>
            <a:r>
              <a:rPr lang="en-IN" sz="2900" dirty="0"/>
              <a:t>The software serves as a digital backbone for a coaching institute. It aims to eliminate manual record-keeping errors and provide administrators with a bird's-eye view of their institute's health. It automates scheduling, tracks student progress through graphical representations, and ensures financial transparency through systematic fee management.</a:t>
            </a:r>
          </a:p>
          <a:p>
            <a:r>
              <a:rPr lang="en-IN" sz="2900" b="1" dirty="0"/>
              <a:t>Target Users:</a:t>
            </a:r>
            <a:endParaRPr lang="en-IN" sz="2900" dirty="0"/>
          </a:p>
          <a:p>
            <a:r>
              <a:rPr lang="en-IN" sz="2900" b="1" dirty="0"/>
              <a:t>Administrators:</a:t>
            </a:r>
            <a:r>
              <a:rPr lang="en-IN" sz="2900" dirty="0"/>
              <a:t> Manage the entire institute, approve staff/students, and oversee financial collection.</a:t>
            </a:r>
          </a:p>
          <a:p>
            <a:r>
              <a:rPr lang="en-IN" sz="2900" b="1" dirty="0"/>
              <a:t>Teachers:</a:t>
            </a:r>
            <a:r>
              <a:rPr lang="en-IN" sz="2900" dirty="0"/>
              <a:t> Record daily attendance, manage subject-wise marks, and share study materials.</a:t>
            </a:r>
          </a:p>
          <a:p>
            <a:r>
              <a:rPr lang="en-IN" sz="2900" b="1" dirty="0"/>
              <a:t>Students &amp; Parents:</a:t>
            </a:r>
            <a:r>
              <a:rPr lang="en-IN" sz="2900" dirty="0"/>
              <a:t> Access personalized dashboards to view timetables, test results, and payment history.</a:t>
            </a:r>
          </a:p>
          <a:p>
            <a:endParaRPr lang="en-IN" dirty="0"/>
          </a:p>
          <a:p>
            <a:br>
              <a:rPr lang="en-IN" dirty="0"/>
            </a:br>
            <a:endParaRPr lang="en-IN" dirty="0"/>
          </a:p>
        </p:txBody>
      </p:sp>
    </p:spTree>
    <p:extLst>
      <p:ext uri="{BB962C8B-B14F-4D97-AF65-F5344CB8AC3E}">
        <p14:creationId xmlns:p14="http://schemas.microsoft.com/office/powerpoint/2010/main" val="3062776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213AA-AFA9-3E79-FF86-E0D2565038E6}"/>
              </a:ext>
            </a:extLst>
          </p:cNvPr>
          <p:cNvSpPr>
            <a:spLocks noGrp="1"/>
          </p:cNvSpPr>
          <p:nvPr>
            <p:ph type="title"/>
          </p:nvPr>
        </p:nvSpPr>
        <p:spPr>
          <a:xfrm>
            <a:off x="1295402" y="982132"/>
            <a:ext cx="9601196" cy="738513"/>
          </a:xfrm>
        </p:spPr>
        <p:txBody>
          <a:bodyPr>
            <a:normAutofit fontScale="90000"/>
          </a:bodyPr>
          <a:lstStyle/>
          <a:p>
            <a:r>
              <a:rPr lang="en-IN" dirty="0"/>
              <a:t>Scope of the Project</a:t>
            </a:r>
            <a:br>
              <a:rPr lang="en-IN" dirty="0"/>
            </a:br>
            <a:endParaRPr lang="en-IN" dirty="0"/>
          </a:p>
        </p:txBody>
      </p:sp>
      <p:sp>
        <p:nvSpPr>
          <p:cNvPr id="3" name="Content Placeholder 2">
            <a:extLst>
              <a:ext uri="{FF2B5EF4-FFF2-40B4-BE49-F238E27FC236}">
                <a16:creationId xmlns:a16="http://schemas.microsoft.com/office/drawing/2014/main" id="{39763A32-FCAB-F8EE-D5F3-FE6330C64D63}"/>
              </a:ext>
            </a:extLst>
          </p:cNvPr>
          <p:cNvSpPr>
            <a:spLocks noGrp="1"/>
          </p:cNvSpPr>
          <p:nvPr>
            <p:ph idx="1"/>
          </p:nvPr>
        </p:nvSpPr>
        <p:spPr>
          <a:xfrm>
            <a:off x="1295401" y="1445342"/>
            <a:ext cx="9601196" cy="4430526"/>
          </a:xfrm>
        </p:spPr>
        <p:txBody>
          <a:bodyPr>
            <a:normAutofit fontScale="47500" lnSpcReduction="20000"/>
          </a:bodyPr>
          <a:lstStyle/>
          <a:p>
            <a:pPr marL="0" indent="0">
              <a:buNone/>
            </a:pPr>
            <a:endParaRPr lang="en-IN" dirty="0"/>
          </a:p>
          <a:p>
            <a:r>
              <a:rPr lang="en-IN" sz="2500" b="1" dirty="0"/>
              <a:t>Features Included:</a:t>
            </a:r>
            <a:endParaRPr lang="en-IN" sz="2500" dirty="0"/>
          </a:p>
          <a:p>
            <a:r>
              <a:rPr lang="en-IN" sz="2500" b="1" dirty="0"/>
              <a:t>User Authentication:</a:t>
            </a:r>
            <a:r>
              <a:rPr lang="en-IN" sz="2500" dirty="0"/>
              <a:t> Secure login with Role-Based Access Control (RBAC).</a:t>
            </a:r>
          </a:p>
          <a:p>
            <a:r>
              <a:rPr lang="en-IN" sz="2500" b="1" dirty="0"/>
              <a:t>Academic Modules:</a:t>
            </a:r>
            <a:r>
              <a:rPr lang="en-IN" sz="2500" dirty="0"/>
              <a:t> Management of Standards, Batches, Subjects, and Timetables.</a:t>
            </a:r>
          </a:p>
          <a:p>
            <a:r>
              <a:rPr lang="en-IN" sz="2500" b="1" dirty="0"/>
              <a:t>Performance Tracking:</a:t>
            </a:r>
            <a:r>
              <a:rPr lang="en-IN" sz="2500" dirty="0"/>
              <a:t> Digital Attendance marking and Marks management with performance graphs.</a:t>
            </a:r>
          </a:p>
          <a:p>
            <a:r>
              <a:rPr lang="en-IN" sz="2500" b="1" dirty="0"/>
              <a:t>Financial Tracking:</a:t>
            </a:r>
            <a:r>
              <a:rPr lang="en-IN" sz="2500" dirty="0"/>
              <a:t> Fee record management with auto-calculation of pending amounts and status tracking (Paid/Partial/Unpaid).</a:t>
            </a:r>
          </a:p>
          <a:p>
            <a:r>
              <a:rPr lang="en-IN" sz="2500" b="1" dirty="0"/>
              <a:t>Communication &amp; Support:</a:t>
            </a:r>
            <a:r>
              <a:rPr lang="en-IN" sz="2500" dirty="0"/>
              <a:t> Digital Notice Board for announcements and an AI-powered ERP Assistant for instant student support.</a:t>
            </a:r>
          </a:p>
          <a:p>
            <a:r>
              <a:rPr lang="en-IN" sz="2500" b="1" dirty="0"/>
              <a:t>User Roles:</a:t>
            </a:r>
            <a:endParaRPr lang="en-IN" sz="2500" dirty="0"/>
          </a:p>
          <a:p>
            <a:r>
              <a:rPr lang="en-IN" sz="2500" b="1" dirty="0"/>
              <a:t>Admin:</a:t>
            </a:r>
            <a:r>
              <a:rPr lang="en-IN" sz="2500" dirty="0"/>
              <a:t> Complete oversight, user management, and system configuration.</a:t>
            </a:r>
          </a:p>
          <a:p>
            <a:r>
              <a:rPr lang="en-IN" sz="2500" b="1" dirty="0"/>
              <a:t>Teacher:</a:t>
            </a:r>
            <a:r>
              <a:rPr lang="en-IN" sz="2500" dirty="0"/>
              <a:t> Academic data entry, student performance monitoring, and material sharing.</a:t>
            </a:r>
          </a:p>
          <a:p>
            <a:r>
              <a:rPr lang="en-IN" sz="2500" b="1" dirty="0"/>
              <a:t>Student:</a:t>
            </a:r>
            <a:r>
              <a:rPr lang="en-IN" sz="2500" dirty="0"/>
              <a:t> Self-service portal for personal academic and financial records.</a:t>
            </a:r>
          </a:p>
          <a:p>
            <a:r>
              <a:rPr lang="en-IN" sz="2500" b="1" dirty="0"/>
              <a:t>Limitations:</a:t>
            </a:r>
            <a:endParaRPr lang="en-IN" sz="2500" dirty="0"/>
          </a:p>
          <a:p>
            <a:r>
              <a:rPr lang="en-IN" sz="2500" dirty="0"/>
              <a:t>Requires internet connectivity for real-time cloud data synchronization.</a:t>
            </a:r>
          </a:p>
          <a:p>
            <a:r>
              <a:rPr lang="en-IN" sz="2500" dirty="0"/>
              <a:t>The native mobile application (iOS/Android) is currently in the development/approval phase.</a:t>
            </a:r>
          </a:p>
          <a:p>
            <a:pPr marL="0" indent="0">
              <a:buNone/>
            </a:pPr>
            <a:endParaRPr lang="en-IN" dirty="0"/>
          </a:p>
          <a:p>
            <a:br>
              <a:rPr lang="en-IN" dirty="0"/>
            </a:br>
            <a:endParaRPr lang="en-IN" dirty="0"/>
          </a:p>
        </p:txBody>
      </p:sp>
    </p:spTree>
    <p:extLst>
      <p:ext uri="{BB962C8B-B14F-4D97-AF65-F5344CB8AC3E}">
        <p14:creationId xmlns:p14="http://schemas.microsoft.com/office/powerpoint/2010/main" val="1559930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09187-9022-02CA-D597-D0046241BF9B}"/>
              </a:ext>
            </a:extLst>
          </p:cNvPr>
          <p:cNvSpPr>
            <a:spLocks noGrp="1"/>
          </p:cNvSpPr>
          <p:nvPr>
            <p:ph type="title"/>
          </p:nvPr>
        </p:nvSpPr>
        <p:spPr>
          <a:xfrm>
            <a:off x="1295402" y="982132"/>
            <a:ext cx="9601196" cy="944991"/>
          </a:xfrm>
        </p:spPr>
        <p:txBody>
          <a:bodyPr>
            <a:normAutofit fontScale="90000"/>
          </a:bodyPr>
          <a:lstStyle/>
          <a:p>
            <a:r>
              <a:rPr lang="en-IN" dirty="0"/>
              <a:t> Development Methodology</a:t>
            </a:r>
            <a:br>
              <a:rPr lang="en-IN" dirty="0"/>
            </a:br>
            <a:endParaRPr lang="en-IN" dirty="0"/>
          </a:p>
        </p:txBody>
      </p:sp>
      <p:sp>
        <p:nvSpPr>
          <p:cNvPr id="3" name="Content Placeholder 2">
            <a:extLst>
              <a:ext uri="{FF2B5EF4-FFF2-40B4-BE49-F238E27FC236}">
                <a16:creationId xmlns:a16="http://schemas.microsoft.com/office/drawing/2014/main" id="{5D0ADCAC-D2C2-B042-EB33-4C3B21BBECA3}"/>
              </a:ext>
            </a:extLst>
          </p:cNvPr>
          <p:cNvSpPr>
            <a:spLocks noGrp="1"/>
          </p:cNvSpPr>
          <p:nvPr>
            <p:ph idx="1"/>
          </p:nvPr>
        </p:nvSpPr>
        <p:spPr>
          <a:xfrm>
            <a:off x="1295401" y="2556932"/>
            <a:ext cx="9601196" cy="3617726"/>
          </a:xfrm>
        </p:spPr>
        <p:txBody>
          <a:bodyPr>
            <a:normAutofit fontScale="32500" lnSpcReduction="20000"/>
          </a:bodyPr>
          <a:lstStyle/>
          <a:p>
            <a:pPr marL="0" indent="0">
              <a:buNone/>
            </a:pPr>
            <a:r>
              <a:rPr lang="en-IN" sz="4300" dirty="0"/>
              <a:t> Software Development Methodology</a:t>
            </a:r>
          </a:p>
          <a:p>
            <a:r>
              <a:rPr lang="en-IN" sz="4300" b="1" dirty="0"/>
              <a:t>SDLC Model Used:</a:t>
            </a:r>
            <a:r>
              <a:rPr lang="en-IN" sz="4300" dirty="0"/>
              <a:t> </a:t>
            </a:r>
            <a:r>
              <a:rPr lang="en-IN" sz="4300" b="1" dirty="0"/>
              <a:t>Agile Methodology</a:t>
            </a:r>
            <a:r>
              <a:rPr lang="en-IN" sz="4300" dirty="0"/>
              <a:t> The project followed an iterative development approach, allowing for the flexible addition of features and continuous improvement based on testing. This was crucial for refining complex logic in the Marks and Fees modules.</a:t>
            </a:r>
          </a:p>
          <a:p>
            <a:r>
              <a:rPr lang="en-IN" sz="4300" b="1" dirty="0"/>
              <a:t>Phase-wise Explanation:</a:t>
            </a:r>
            <a:endParaRPr lang="en-IN" sz="4300" dirty="0"/>
          </a:p>
          <a:p>
            <a:r>
              <a:rPr lang="en-IN" sz="4300" b="1" dirty="0"/>
              <a:t>Requirement Gathering:</a:t>
            </a:r>
            <a:r>
              <a:rPr lang="en-IN" sz="4300" dirty="0"/>
              <a:t> Identifying the core pain points of coaching </a:t>
            </a:r>
            <a:r>
              <a:rPr lang="en-IN" sz="4300" dirty="0" err="1"/>
              <a:t>centers</a:t>
            </a:r>
            <a:r>
              <a:rPr lang="en-IN" sz="4300" dirty="0"/>
              <a:t> (e.g., manual fee tracking).</a:t>
            </a:r>
          </a:p>
          <a:p>
            <a:r>
              <a:rPr lang="en-IN" sz="4300" b="1" dirty="0"/>
              <a:t>System Design:</a:t>
            </a:r>
            <a:r>
              <a:rPr lang="en-IN" sz="4300" dirty="0"/>
              <a:t> Designing the database schema to handle relationships between Students, Classes, and Subjects.</a:t>
            </a:r>
          </a:p>
          <a:p>
            <a:r>
              <a:rPr lang="en-IN" sz="4300" b="1" dirty="0"/>
              <a:t>Iterative Development:</a:t>
            </a:r>
            <a:r>
              <a:rPr lang="en-IN" sz="4300" dirty="0"/>
              <a:t> Developing the backend API first, followed by the frontend UI components in separate "sprints."</a:t>
            </a:r>
          </a:p>
          <a:p>
            <a:r>
              <a:rPr lang="en-IN" sz="4300" b="1" dirty="0"/>
              <a:t>Testing &amp; Debugging:</a:t>
            </a:r>
            <a:r>
              <a:rPr lang="en-IN" sz="4300" dirty="0"/>
              <a:t> Conducting rigorous testing of the Role-Based Access Control (RBAC) to ensure security.</a:t>
            </a:r>
          </a:p>
          <a:p>
            <a:r>
              <a:rPr lang="en-IN" sz="4300" b="1" dirty="0"/>
              <a:t>Deployment:</a:t>
            </a:r>
            <a:r>
              <a:rPr lang="en-IN" sz="4300" dirty="0"/>
              <a:t> Deploying the backend to Render and the frontend to </a:t>
            </a:r>
            <a:r>
              <a:rPr lang="en-IN" sz="4300" dirty="0" err="1"/>
              <a:t>Vercel</a:t>
            </a:r>
            <a:r>
              <a:rPr lang="en-IN" sz="4300" dirty="0"/>
              <a:t> for a live production environment.</a:t>
            </a:r>
          </a:p>
          <a:p>
            <a:pPr marL="0" indent="0">
              <a:buNone/>
            </a:pPr>
            <a:endParaRPr lang="en-IN" dirty="0"/>
          </a:p>
          <a:p>
            <a:pPr marL="0" indent="0">
              <a:buNone/>
            </a:pPr>
            <a:br>
              <a:rPr lang="en-IN" dirty="0"/>
            </a:br>
            <a:endParaRPr lang="en-IN" dirty="0"/>
          </a:p>
        </p:txBody>
      </p:sp>
    </p:spTree>
    <p:extLst>
      <p:ext uri="{BB962C8B-B14F-4D97-AF65-F5344CB8AC3E}">
        <p14:creationId xmlns:p14="http://schemas.microsoft.com/office/powerpoint/2010/main" val="2503767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F6539-F3FA-EB56-AA99-8874125E48DE}"/>
              </a:ext>
            </a:extLst>
          </p:cNvPr>
          <p:cNvSpPr>
            <a:spLocks noGrp="1"/>
          </p:cNvSpPr>
          <p:nvPr>
            <p:ph type="title"/>
          </p:nvPr>
        </p:nvSpPr>
        <p:spPr/>
        <p:txBody>
          <a:bodyPr>
            <a:normAutofit fontScale="90000"/>
          </a:bodyPr>
          <a:lstStyle/>
          <a:p>
            <a:r>
              <a:rPr lang="en-IN" dirty="0"/>
              <a:t>Frontend Design</a:t>
            </a:r>
            <a:br>
              <a:rPr lang="en-IN" dirty="0"/>
            </a:br>
            <a:endParaRPr lang="en-IN" dirty="0"/>
          </a:p>
        </p:txBody>
      </p:sp>
      <p:sp>
        <p:nvSpPr>
          <p:cNvPr id="3" name="Content Placeholder 2">
            <a:extLst>
              <a:ext uri="{FF2B5EF4-FFF2-40B4-BE49-F238E27FC236}">
                <a16:creationId xmlns:a16="http://schemas.microsoft.com/office/drawing/2014/main" id="{90B03A51-1A70-A6DF-FE96-55A226E873CA}"/>
              </a:ext>
            </a:extLst>
          </p:cNvPr>
          <p:cNvSpPr>
            <a:spLocks noGrp="1"/>
          </p:cNvSpPr>
          <p:nvPr>
            <p:ph idx="1"/>
          </p:nvPr>
        </p:nvSpPr>
        <p:spPr/>
        <p:txBody>
          <a:bodyPr>
            <a:normAutofit fontScale="55000" lnSpcReduction="20000"/>
          </a:bodyPr>
          <a:lstStyle/>
          <a:p>
            <a:pPr marL="0" indent="0">
              <a:buNone/>
            </a:pPr>
            <a:r>
              <a:rPr lang="en-IN" b="1" dirty="0"/>
              <a:t> Technologies Used:</a:t>
            </a:r>
            <a:endParaRPr lang="en-IN" dirty="0"/>
          </a:p>
          <a:p>
            <a:r>
              <a:rPr lang="en-IN" b="1" dirty="0"/>
              <a:t>React.js:</a:t>
            </a:r>
            <a:r>
              <a:rPr lang="en-IN" dirty="0"/>
              <a:t> For building a dynamic, component-based Single Page Application (SPA).</a:t>
            </a:r>
          </a:p>
          <a:p>
            <a:r>
              <a:rPr lang="en-IN" b="1" dirty="0"/>
              <a:t>Vite:</a:t>
            </a:r>
            <a:r>
              <a:rPr lang="en-IN" dirty="0"/>
              <a:t> Used as the build tool for lightning-fast development and optimized production bundles.</a:t>
            </a:r>
          </a:p>
          <a:p>
            <a:r>
              <a:rPr lang="en-IN" b="1" dirty="0"/>
              <a:t>Tailwind CSS:</a:t>
            </a:r>
            <a:r>
              <a:rPr lang="en-IN" dirty="0"/>
              <a:t> For modern, responsive styling and rapid UI development.</a:t>
            </a:r>
          </a:p>
          <a:p>
            <a:r>
              <a:rPr lang="en-IN" b="1" dirty="0"/>
              <a:t>Recharts:</a:t>
            </a:r>
            <a:r>
              <a:rPr lang="en-IN" dirty="0"/>
              <a:t> For generating interactive performance graphs for students.</a:t>
            </a:r>
          </a:p>
          <a:p>
            <a:r>
              <a:rPr lang="en-IN" b="1" dirty="0"/>
              <a:t>UI Design Philosophy:</a:t>
            </a:r>
            <a:endParaRPr lang="en-IN" dirty="0"/>
          </a:p>
          <a:p>
            <a:r>
              <a:rPr lang="en-IN" b="1" dirty="0"/>
              <a:t>Modern Aesthetics:</a:t>
            </a:r>
            <a:r>
              <a:rPr lang="en-IN" dirty="0"/>
              <a:t> Use of "</a:t>
            </a:r>
            <a:r>
              <a:rPr lang="en-IN" dirty="0" err="1"/>
              <a:t>Glassmorphism</a:t>
            </a:r>
            <a:r>
              <a:rPr lang="en-IN" dirty="0"/>
              <a:t>" and a refined dark/light mode palette.</a:t>
            </a:r>
          </a:p>
          <a:p>
            <a:r>
              <a:rPr lang="en-IN" b="1" dirty="0"/>
              <a:t>Dashboard-Centric:</a:t>
            </a:r>
            <a:r>
              <a:rPr lang="en-IN" dirty="0"/>
              <a:t> Important metrics (Total Students, Pending Fees, Top Performers) are visible at a glance via Stat Cards.</a:t>
            </a:r>
          </a:p>
          <a:p>
            <a:r>
              <a:rPr lang="en-IN" b="1" dirty="0"/>
              <a:t>User-Friendly Forms:</a:t>
            </a:r>
            <a:r>
              <a:rPr lang="en-IN" dirty="0"/>
              <a:t> Implemented auto-calculating fields and filtered dropdowns to reduce user input errors.</a:t>
            </a:r>
          </a:p>
          <a:p>
            <a:r>
              <a:rPr lang="en-IN" b="1" dirty="0"/>
              <a:t>User Interaction Flow:</a:t>
            </a:r>
            <a:endParaRPr lang="en-IN" dirty="0"/>
          </a:p>
          <a:p>
            <a:r>
              <a:rPr lang="en-IN" dirty="0"/>
              <a:t>Login → Dynamic Sidebar Navigation → Real-time Data Tables → Modal-based Actions (Edit/Delete) → Success/Error Notifications.</a:t>
            </a:r>
          </a:p>
          <a:p>
            <a:endParaRPr lang="en-IN" dirty="0"/>
          </a:p>
        </p:txBody>
      </p:sp>
    </p:spTree>
    <p:extLst>
      <p:ext uri="{BB962C8B-B14F-4D97-AF65-F5344CB8AC3E}">
        <p14:creationId xmlns:p14="http://schemas.microsoft.com/office/powerpoint/2010/main" val="1811250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106A7-CF97-0EB0-B571-1CCAFA4E65FB}"/>
              </a:ext>
            </a:extLst>
          </p:cNvPr>
          <p:cNvSpPr>
            <a:spLocks noGrp="1"/>
          </p:cNvSpPr>
          <p:nvPr>
            <p:ph type="title"/>
          </p:nvPr>
        </p:nvSpPr>
        <p:spPr/>
        <p:txBody>
          <a:bodyPr>
            <a:normAutofit fontScale="90000"/>
          </a:bodyPr>
          <a:lstStyle/>
          <a:p>
            <a:r>
              <a:rPr lang="en-IN" dirty="0"/>
              <a:t>Backend Design</a:t>
            </a:r>
            <a:br>
              <a:rPr lang="en-IN" dirty="0"/>
            </a:br>
            <a:endParaRPr lang="en-IN" dirty="0"/>
          </a:p>
        </p:txBody>
      </p:sp>
      <p:sp>
        <p:nvSpPr>
          <p:cNvPr id="3" name="Content Placeholder 2">
            <a:extLst>
              <a:ext uri="{FF2B5EF4-FFF2-40B4-BE49-F238E27FC236}">
                <a16:creationId xmlns:a16="http://schemas.microsoft.com/office/drawing/2014/main" id="{804CE27C-0BE0-EAAE-4C02-816FAAE9EEFE}"/>
              </a:ext>
            </a:extLst>
          </p:cNvPr>
          <p:cNvSpPr>
            <a:spLocks noGrp="1"/>
          </p:cNvSpPr>
          <p:nvPr>
            <p:ph idx="1"/>
          </p:nvPr>
        </p:nvSpPr>
        <p:spPr/>
        <p:txBody>
          <a:bodyPr>
            <a:normAutofit fontScale="47500" lnSpcReduction="20000"/>
          </a:bodyPr>
          <a:lstStyle/>
          <a:p>
            <a:pPr marL="0" indent="0">
              <a:buNone/>
            </a:pPr>
            <a:r>
              <a:rPr lang="en-IN" b="1" dirty="0"/>
              <a:t>Backend Technologies Used:</a:t>
            </a:r>
            <a:endParaRPr lang="en-IN" dirty="0"/>
          </a:p>
          <a:p>
            <a:r>
              <a:rPr lang="en-IN" b="1" dirty="0"/>
              <a:t>Node.js:</a:t>
            </a:r>
            <a:r>
              <a:rPr lang="en-IN" dirty="0"/>
              <a:t> The runtime environment for the server-side code.</a:t>
            </a:r>
          </a:p>
          <a:p>
            <a:r>
              <a:rPr lang="en-IN" b="1" dirty="0"/>
              <a:t>Express.js:</a:t>
            </a:r>
            <a:r>
              <a:rPr lang="en-IN" dirty="0"/>
              <a:t> The web framework used to build the RESTful API.</a:t>
            </a:r>
          </a:p>
          <a:p>
            <a:r>
              <a:rPr lang="en-IN" b="1" dirty="0"/>
              <a:t>JWT (JSON Web Tokens):</a:t>
            </a:r>
            <a:r>
              <a:rPr lang="en-IN" dirty="0"/>
              <a:t> For stateless, secure user authentication and session management.</a:t>
            </a:r>
          </a:p>
          <a:p>
            <a:r>
              <a:rPr lang="en-IN" b="1" dirty="0"/>
              <a:t>Bcrypt.js:</a:t>
            </a:r>
            <a:r>
              <a:rPr lang="en-IN" dirty="0"/>
              <a:t> For secure password hashing and protection.</a:t>
            </a:r>
          </a:p>
          <a:p>
            <a:r>
              <a:rPr lang="en-IN" b="1" dirty="0"/>
              <a:t>Business Logic:</a:t>
            </a:r>
            <a:endParaRPr lang="en-IN" dirty="0"/>
          </a:p>
          <a:p>
            <a:r>
              <a:rPr lang="en-IN" b="1" dirty="0"/>
              <a:t>Role-Based Authorization:</a:t>
            </a:r>
            <a:r>
              <a:rPr lang="en-IN" dirty="0"/>
              <a:t> Custom middleware ensures that only Admins can manage staff, and Teachers can only manage students in their assigned classes.</a:t>
            </a:r>
          </a:p>
          <a:p>
            <a:r>
              <a:rPr lang="en-IN" b="1" dirty="0"/>
              <a:t>Automated Fee Logic:</a:t>
            </a:r>
            <a:r>
              <a:rPr lang="en-IN" dirty="0"/>
              <a:t> The backend automatically determines the "Status" (Paid/Partial/Unpaid) of a record whenever an amount is updated.</a:t>
            </a:r>
          </a:p>
          <a:p>
            <a:r>
              <a:rPr lang="en-IN" b="1" dirty="0"/>
              <a:t>Data Validation:</a:t>
            </a:r>
            <a:r>
              <a:rPr lang="en-IN" dirty="0"/>
              <a:t> Centralized validation utility to ensure all database entries (</a:t>
            </a:r>
            <a:r>
              <a:rPr lang="en-IN" dirty="0" err="1"/>
              <a:t>ObjectIDs</a:t>
            </a:r>
            <a:r>
              <a:rPr lang="en-IN" dirty="0"/>
              <a:t>, Phone Numbers, Emails) follow a strict format.</a:t>
            </a:r>
          </a:p>
          <a:p>
            <a:r>
              <a:rPr lang="en-IN" b="1" dirty="0"/>
              <a:t>Server-side Processing:</a:t>
            </a:r>
            <a:endParaRPr lang="en-IN" dirty="0"/>
          </a:p>
          <a:p>
            <a:r>
              <a:rPr lang="en-IN" dirty="0"/>
              <a:t>Handles complex queries like calculating class-wise performance averages and filtering timetables by batch timings.</a:t>
            </a:r>
          </a:p>
          <a:p>
            <a:pPr marL="0" indent="0">
              <a:buNone/>
            </a:pPr>
            <a:br>
              <a:rPr lang="en-IN" dirty="0"/>
            </a:br>
            <a:endParaRPr lang="en-IN" dirty="0"/>
          </a:p>
        </p:txBody>
      </p:sp>
    </p:spTree>
    <p:extLst>
      <p:ext uri="{BB962C8B-B14F-4D97-AF65-F5344CB8AC3E}">
        <p14:creationId xmlns:p14="http://schemas.microsoft.com/office/powerpoint/2010/main" val="2923606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CD5D8-382E-ECBB-A804-B40E85AD571F}"/>
              </a:ext>
            </a:extLst>
          </p:cNvPr>
          <p:cNvSpPr>
            <a:spLocks noGrp="1"/>
          </p:cNvSpPr>
          <p:nvPr>
            <p:ph type="title"/>
          </p:nvPr>
        </p:nvSpPr>
        <p:spPr/>
        <p:txBody>
          <a:bodyPr>
            <a:normAutofit fontScale="90000"/>
          </a:bodyPr>
          <a:lstStyle/>
          <a:p>
            <a:r>
              <a:rPr lang="en-IN" dirty="0"/>
              <a:t>Database Design</a:t>
            </a:r>
            <a:br>
              <a:rPr lang="en-IN" dirty="0"/>
            </a:br>
            <a:endParaRPr lang="en-IN" dirty="0"/>
          </a:p>
        </p:txBody>
      </p:sp>
      <p:sp>
        <p:nvSpPr>
          <p:cNvPr id="3" name="Content Placeholder 2">
            <a:extLst>
              <a:ext uri="{FF2B5EF4-FFF2-40B4-BE49-F238E27FC236}">
                <a16:creationId xmlns:a16="http://schemas.microsoft.com/office/drawing/2014/main" id="{C1E94C92-0CE1-12AF-4362-30943BD88A14}"/>
              </a:ext>
            </a:extLst>
          </p:cNvPr>
          <p:cNvSpPr>
            <a:spLocks noGrp="1"/>
          </p:cNvSpPr>
          <p:nvPr>
            <p:ph idx="1"/>
          </p:nvPr>
        </p:nvSpPr>
        <p:spPr/>
        <p:txBody>
          <a:bodyPr>
            <a:normAutofit fontScale="47500" lnSpcReduction="20000"/>
          </a:bodyPr>
          <a:lstStyle/>
          <a:p>
            <a:pPr marL="0" indent="0">
              <a:buNone/>
            </a:pPr>
            <a:r>
              <a:rPr lang="en-IN" b="1" dirty="0"/>
              <a:t>Database Used:</a:t>
            </a:r>
            <a:r>
              <a:rPr lang="en-IN" dirty="0"/>
              <a:t> </a:t>
            </a:r>
            <a:r>
              <a:rPr lang="en-IN" b="1" dirty="0"/>
              <a:t>MongoDB</a:t>
            </a:r>
            <a:r>
              <a:rPr lang="en-IN" dirty="0"/>
              <a:t> (via MongoDB Atlas)</a:t>
            </a:r>
          </a:p>
          <a:p>
            <a:r>
              <a:rPr lang="en-IN" dirty="0"/>
              <a:t>A NoSQL, document-oriented database that allows for flexible and scalable data storage.</a:t>
            </a:r>
          </a:p>
          <a:p>
            <a:r>
              <a:rPr lang="en-IN" b="1" dirty="0"/>
              <a:t>Collections &amp; Schema Design:</a:t>
            </a:r>
            <a:endParaRPr lang="en-IN" dirty="0"/>
          </a:p>
          <a:p>
            <a:r>
              <a:rPr lang="en-IN" b="1" dirty="0"/>
              <a:t>Users:</a:t>
            </a:r>
            <a:r>
              <a:rPr lang="en-IN" dirty="0"/>
              <a:t> Stores roles, contact info, and encrypted credentials.</a:t>
            </a:r>
          </a:p>
          <a:p>
            <a:r>
              <a:rPr lang="en-IN" b="1" dirty="0"/>
              <a:t>Classes:</a:t>
            </a:r>
            <a:r>
              <a:rPr lang="en-IN" dirty="0"/>
              <a:t> Defines Standards, Batch Names, and Timings.</a:t>
            </a:r>
          </a:p>
          <a:p>
            <a:r>
              <a:rPr lang="en-IN" b="1" dirty="0"/>
              <a:t>Fees:</a:t>
            </a:r>
            <a:r>
              <a:rPr lang="en-IN" dirty="0"/>
              <a:t> Tracks student-wise total fees, paid amounts, and due dates.</a:t>
            </a:r>
          </a:p>
          <a:p>
            <a:r>
              <a:rPr lang="en-IN" b="1" dirty="0"/>
              <a:t>Marks:</a:t>
            </a:r>
            <a:r>
              <a:rPr lang="en-IN" dirty="0"/>
              <a:t> Stores academic scores linked to subjects and students.</a:t>
            </a:r>
          </a:p>
          <a:p>
            <a:r>
              <a:rPr lang="en-IN" b="1" dirty="0"/>
              <a:t>Subjects &amp; Timetable:</a:t>
            </a:r>
            <a:r>
              <a:rPr lang="en-IN" dirty="0"/>
              <a:t> Manages the academic calendar and course details.</a:t>
            </a:r>
          </a:p>
          <a:p>
            <a:r>
              <a:rPr lang="en-IN" b="1" dirty="0"/>
              <a:t>Data Flow:</a:t>
            </a:r>
            <a:endParaRPr lang="en-IN" dirty="0"/>
          </a:p>
          <a:p>
            <a:r>
              <a:rPr lang="en-IN" b="1" dirty="0"/>
              <a:t>Frontend:</a:t>
            </a:r>
            <a:r>
              <a:rPr lang="en-IN" dirty="0"/>
              <a:t> Collects user input (e.g., marks entry).</a:t>
            </a:r>
          </a:p>
          <a:p>
            <a:r>
              <a:rPr lang="en-IN" b="1" dirty="0"/>
              <a:t>API Layer:</a:t>
            </a:r>
            <a:r>
              <a:rPr lang="en-IN" dirty="0"/>
              <a:t> Validates the request and role permissions.</a:t>
            </a:r>
          </a:p>
          <a:p>
            <a:r>
              <a:rPr lang="en-IN" b="1" dirty="0"/>
              <a:t>Database Layer:</a:t>
            </a:r>
            <a:r>
              <a:rPr lang="en-IN" dirty="0"/>
              <a:t> Performs CRUD operations using </a:t>
            </a:r>
            <a:r>
              <a:rPr lang="en-IN" b="1" dirty="0"/>
              <a:t>Mongoose</a:t>
            </a:r>
            <a:r>
              <a:rPr lang="en-IN" dirty="0"/>
              <a:t> (ODM).</a:t>
            </a:r>
          </a:p>
          <a:p>
            <a:r>
              <a:rPr lang="en-IN" b="1" dirty="0"/>
              <a:t>Relationships:</a:t>
            </a:r>
            <a:r>
              <a:rPr lang="en-IN" dirty="0"/>
              <a:t> Uses ref and populate to link data across collections (e.g., linking a Fee record to a specific Student and Class).</a:t>
            </a:r>
          </a:p>
          <a:p>
            <a:endParaRPr lang="en-IN" dirty="0"/>
          </a:p>
        </p:txBody>
      </p:sp>
    </p:spTree>
    <p:extLst>
      <p:ext uri="{BB962C8B-B14F-4D97-AF65-F5344CB8AC3E}">
        <p14:creationId xmlns:p14="http://schemas.microsoft.com/office/powerpoint/2010/main" val="694012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61120-708C-F4FA-C063-6E551659C11A}"/>
              </a:ext>
            </a:extLst>
          </p:cNvPr>
          <p:cNvSpPr>
            <a:spLocks noGrp="1"/>
          </p:cNvSpPr>
          <p:nvPr>
            <p:ph type="title"/>
          </p:nvPr>
        </p:nvSpPr>
        <p:spPr/>
        <p:txBody>
          <a:bodyPr>
            <a:normAutofit fontScale="90000"/>
          </a:bodyPr>
          <a:lstStyle/>
          <a:p>
            <a:r>
              <a:rPr lang="en-IN" dirty="0"/>
              <a:t>Conclusion &amp; Future Scope</a:t>
            </a:r>
            <a:br>
              <a:rPr lang="en-IN" dirty="0"/>
            </a:br>
            <a:endParaRPr lang="en-IN" dirty="0"/>
          </a:p>
        </p:txBody>
      </p:sp>
      <p:sp>
        <p:nvSpPr>
          <p:cNvPr id="3" name="Content Placeholder 2">
            <a:extLst>
              <a:ext uri="{FF2B5EF4-FFF2-40B4-BE49-F238E27FC236}">
                <a16:creationId xmlns:a16="http://schemas.microsoft.com/office/drawing/2014/main" id="{096B22B2-AB4D-91CA-349A-A2647DE54F8E}"/>
              </a:ext>
            </a:extLst>
          </p:cNvPr>
          <p:cNvSpPr>
            <a:spLocks noGrp="1"/>
          </p:cNvSpPr>
          <p:nvPr>
            <p:ph idx="1"/>
          </p:nvPr>
        </p:nvSpPr>
        <p:spPr/>
        <p:txBody>
          <a:bodyPr>
            <a:normAutofit fontScale="70000" lnSpcReduction="20000"/>
          </a:bodyPr>
          <a:lstStyle/>
          <a:p>
            <a:pPr marL="0" indent="0">
              <a:buNone/>
            </a:pPr>
            <a:r>
              <a:rPr lang="en-IN" b="1"/>
              <a:t>Conclusion</a:t>
            </a:r>
            <a:r>
              <a:rPr lang="en-IN" b="1" dirty="0"/>
              <a:t>:</a:t>
            </a:r>
            <a:r>
              <a:rPr lang="en-IN" dirty="0"/>
              <a:t> The </a:t>
            </a:r>
            <a:r>
              <a:rPr lang="en-IN" dirty="0" err="1"/>
              <a:t>Eduverse</a:t>
            </a:r>
            <a:r>
              <a:rPr lang="en-IN" dirty="0"/>
              <a:t> Coaching ERP successfully digitizes the core operations of a coaching institute. By implementing a robust MERN stack architecture, the project provides a scalable, secure, and user-friendly platform that enhances productivity and provides valuable academic insights through data visualization.</a:t>
            </a:r>
          </a:p>
          <a:p>
            <a:r>
              <a:rPr lang="en-IN" b="1" dirty="0"/>
              <a:t>Future Scope:</a:t>
            </a:r>
            <a:endParaRPr lang="en-IN" dirty="0"/>
          </a:p>
          <a:p>
            <a:r>
              <a:rPr lang="en-IN" b="1" dirty="0"/>
              <a:t>Automated Communication:</a:t>
            </a:r>
            <a:r>
              <a:rPr lang="en-IN" dirty="0"/>
              <a:t> Integration of WhatsApp/SMS APIs for automated fee reminders and attendance alerts.</a:t>
            </a:r>
          </a:p>
          <a:p>
            <a:r>
              <a:rPr lang="en-IN" b="1" dirty="0"/>
              <a:t>Enhanced Reporting:</a:t>
            </a:r>
            <a:r>
              <a:rPr lang="en-IN" dirty="0"/>
              <a:t> Generation of downloadable PDF report cards and financial statements for parents.</a:t>
            </a:r>
          </a:p>
          <a:p>
            <a:r>
              <a:rPr lang="en-IN" b="1" dirty="0"/>
              <a:t>Payment Gateway:</a:t>
            </a:r>
            <a:r>
              <a:rPr lang="en-IN" dirty="0"/>
              <a:t> Integration of </a:t>
            </a:r>
            <a:r>
              <a:rPr lang="en-IN" dirty="0" err="1"/>
              <a:t>Razorpay</a:t>
            </a:r>
            <a:r>
              <a:rPr lang="en-IN" dirty="0"/>
              <a:t>/Stripe for direct online fee payments.</a:t>
            </a:r>
          </a:p>
          <a:p>
            <a:r>
              <a:rPr lang="en-IN" b="1" dirty="0"/>
              <a:t>Mobile App:</a:t>
            </a:r>
            <a:r>
              <a:rPr lang="en-IN" dirty="0"/>
              <a:t> Finalizing and deploying the native mobile application for better accessibility on the go.</a:t>
            </a:r>
          </a:p>
          <a:p>
            <a:endParaRPr lang="en-IN" dirty="0"/>
          </a:p>
        </p:txBody>
      </p:sp>
    </p:spTree>
    <p:extLst>
      <p:ext uri="{BB962C8B-B14F-4D97-AF65-F5344CB8AC3E}">
        <p14:creationId xmlns:p14="http://schemas.microsoft.com/office/powerpoint/2010/main" val="243841886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TM02900743[[fn=Organic]]</Template>
  <TotalTime>81</TotalTime>
  <Words>1184</Words>
  <Application>Microsoft Office PowerPoint</Application>
  <PresentationFormat>Widescreen</PresentationFormat>
  <Paragraphs>97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Garamond</vt:lpstr>
      <vt:lpstr>Organic</vt:lpstr>
      <vt:lpstr>Project Title: Eduverse Coaching Institute ERP System </vt:lpstr>
      <vt:lpstr>Introduction </vt:lpstr>
      <vt:lpstr>Project Overview </vt:lpstr>
      <vt:lpstr>Scope of the Project </vt:lpstr>
      <vt:lpstr> Development Methodology </vt:lpstr>
      <vt:lpstr>Frontend Design </vt:lpstr>
      <vt:lpstr>Backend Design </vt:lpstr>
      <vt:lpstr>Database Design </vt:lpstr>
      <vt:lpstr>Conclusion &amp; Future Scope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Aayuni Barot</dc:creator>
  <cp:lastModifiedBy>Aayuni Barot</cp:lastModifiedBy>
  <cp:revision>3</cp:revision>
  <dcterms:created xsi:type="dcterms:W3CDTF">2026-04-23T17:30:15Z</dcterms:created>
  <dcterms:modified xsi:type="dcterms:W3CDTF">2026-04-24T04:22:18Z</dcterms:modified>
</cp:coreProperties>
</file>